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al" charset="1" panose="020B0604020202020204"/>
      <p:regular r:id="rId16"/>
    </p:embeddedFont>
    <p:embeddedFont>
      <p:font typeface="Arial Bold" charset="1" panose="020B0704020202020204"/>
      <p:regular r:id="rId17"/>
    </p:embeddedFont>
    <p:embeddedFont>
      <p:font typeface="Play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jpeg" Type="http://schemas.openxmlformats.org/officeDocument/2006/relationships/image"/><Relationship Id="rId4" Target="../media/image1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jpeg" Type="http://schemas.openxmlformats.org/officeDocument/2006/relationships/image"/><Relationship Id="rId4" Target="../media/image1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jpeg" Type="http://schemas.openxmlformats.org/officeDocument/2006/relationships/image"/><Relationship Id="rId4" Target="../media/image1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5.jpeg" Type="http://schemas.openxmlformats.org/officeDocument/2006/relationships/image"/><Relationship Id="rId5" Target="../media/image1.jpeg" Type="http://schemas.openxmlformats.org/officeDocument/2006/relationships/image"/><Relationship Id="rId6" Target="../media/image2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jpeg" Type="http://schemas.openxmlformats.org/officeDocument/2006/relationships/image"/><Relationship Id="rId4" Target="../media/image1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17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5.jpeg" Type="http://schemas.openxmlformats.org/officeDocument/2006/relationships/image"/><Relationship Id="rId9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0238"/>
            <a:chOff x="0" y="0"/>
            <a:chExt cx="24384000" cy="13720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0318"/>
            </a:xfrm>
            <a:custGeom>
              <a:avLst/>
              <a:gdLst/>
              <a:ahLst/>
              <a:cxnLst/>
              <a:rect r="r" b="b" t="t" l="l"/>
              <a:pathLst>
                <a:path h="137203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2466" y="-5372"/>
            <a:ext cx="18360466" cy="10326948"/>
            <a:chOff x="0" y="0"/>
            <a:chExt cx="24480622" cy="13769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80647" cy="13769212"/>
            </a:xfrm>
            <a:custGeom>
              <a:avLst/>
              <a:gdLst/>
              <a:ahLst/>
              <a:cxnLst/>
              <a:rect r="r" b="b" t="t" l="l"/>
              <a:pathLst>
                <a:path h="13769212" w="24480647">
                  <a:moveTo>
                    <a:pt x="0" y="0"/>
                  </a:moveTo>
                  <a:lnTo>
                    <a:pt x="24480647" y="0"/>
                  </a:lnTo>
                  <a:lnTo>
                    <a:pt x="24480647" y="13769212"/>
                  </a:lnTo>
                  <a:lnTo>
                    <a:pt x="0" y="13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948" r="0" b="-39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06123" y="2212134"/>
            <a:ext cx="5915330" cy="5891946"/>
            <a:chOff x="0" y="0"/>
            <a:chExt cx="7887106" cy="78559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87081" cy="7855966"/>
            </a:xfrm>
            <a:custGeom>
              <a:avLst/>
              <a:gdLst/>
              <a:ahLst/>
              <a:cxnLst/>
              <a:rect r="r" b="b" t="t" l="l"/>
              <a:pathLst>
                <a:path h="7855966" w="7887081">
                  <a:moveTo>
                    <a:pt x="0" y="0"/>
                  </a:moveTo>
                  <a:lnTo>
                    <a:pt x="7887081" y="0"/>
                  </a:lnTo>
                  <a:lnTo>
                    <a:pt x="7887081" y="7855966"/>
                  </a:lnTo>
                  <a:lnTo>
                    <a:pt x="0" y="785596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8" id="8"/>
          <p:cNvSpPr/>
          <p:nvPr/>
        </p:nvSpPr>
        <p:spPr>
          <a:xfrm rot="246959">
            <a:off x="10868596" y="2887589"/>
            <a:ext cx="1194216" cy="0"/>
          </a:xfrm>
          <a:prstGeom prst="line">
            <a:avLst/>
          </a:prstGeom>
          <a:ln cap="rnd" w="47625">
            <a:solidFill>
              <a:srgbClr val="76AD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513568" y="2524692"/>
            <a:ext cx="8950509" cy="5908358"/>
            <a:chOff x="0" y="0"/>
            <a:chExt cx="11934012" cy="78778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9050" y="19050"/>
              <a:ext cx="11895963" cy="7839710"/>
            </a:xfrm>
            <a:custGeom>
              <a:avLst/>
              <a:gdLst/>
              <a:ahLst/>
              <a:cxnLst/>
              <a:rect r="r" b="b" t="t" l="l"/>
              <a:pathLst>
                <a:path h="7839710" w="11895963">
                  <a:moveTo>
                    <a:pt x="0" y="0"/>
                  </a:moveTo>
                  <a:lnTo>
                    <a:pt x="11895963" y="0"/>
                  </a:lnTo>
                  <a:lnTo>
                    <a:pt x="11895963" y="7839710"/>
                  </a:lnTo>
                  <a:lnTo>
                    <a:pt x="0" y="78397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934063" cy="7877810"/>
            </a:xfrm>
            <a:custGeom>
              <a:avLst/>
              <a:gdLst/>
              <a:ahLst/>
              <a:cxnLst/>
              <a:rect r="r" b="b" t="t" l="l"/>
              <a:pathLst>
                <a:path h="7877810" w="11934063">
                  <a:moveTo>
                    <a:pt x="19050" y="0"/>
                  </a:moveTo>
                  <a:lnTo>
                    <a:pt x="11915013" y="0"/>
                  </a:lnTo>
                  <a:cubicBezTo>
                    <a:pt x="11925554" y="0"/>
                    <a:pt x="11934063" y="8509"/>
                    <a:pt x="11934063" y="19050"/>
                  </a:cubicBezTo>
                  <a:lnTo>
                    <a:pt x="11934063" y="7858760"/>
                  </a:lnTo>
                  <a:cubicBezTo>
                    <a:pt x="11934063" y="7869301"/>
                    <a:pt x="11925554" y="7877810"/>
                    <a:pt x="11915013" y="7877810"/>
                  </a:cubicBezTo>
                  <a:lnTo>
                    <a:pt x="19050" y="7877810"/>
                  </a:lnTo>
                  <a:cubicBezTo>
                    <a:pt x="8509" y="7877810"/>
                    <a:pt x="0" y="7869301"/>
                    <a:pt x="0" y="785876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7858760"/>
                  </a:lnTo>
                  <a:lnTo>
                    <a:pt x="19050" y="7858760"/>
                  </a:lnTo>
                  <a:lnTo>
                    <a:pt x="19050" y="7839710"/>
                  </a:lnTo>
                  <a:lnTo>
                    <a:pt x="11915013" y="7839710"/>
                  </a:lnTo>
                  <a:lnTo>
                    <a:pt x="11915013" y="7858760"/>
                  </a:lnTo>
                  <a:lnTo>
                    <a:pt x="11895963" y="7858760"/>
                  </a:lnTo>
                  <a:lnTo>
                    <a:pt x="11895963" y="19050"/>
                  </a:lnTo>
                  <a:lnTo>
                    <a:pt x="11915013" y="19050"/>
                  </a:lnTo>
                  <a:lnTo>
                    <a:pt x="11915013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2" id="12"/>
          <p:cNvSpPr/>
          <p:nvPr/>
        </p:nvSpPr>
        <p:spPr>
          <a:xfrm>
            <a:off x="8596188" y="5167632"/>
            <a:ext cx="6930169" cy="28545"/>
          </a:xfrm>
          <a:prstGeom prst="line">
            <a:avLst/>
          </a:prstGeom>
          <a:ln cap="rnd" w="19050">
            <a:solidFill>
              <a:srgbClr val="AAA1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7964782" y="6993634"/>
            <a:ext cx="8192982" cy="71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1964">
                <a:solidFill>
                  <a:srgbClr val="243141"/>
                </a:solidFill>
                <a:latin typeface="Arial"/>
                <a:ea typeface="Arial"/>
                <a:cs typeface="Arial"/>
                <a:sym typeface="Arial"/>
              </a:rPr>
              <a:t>Integrantes:</a:t>
            </a:r>
          </a:p>
          <a:p>
            <a:pPr algn="ctr">
              <a:lnSpc>
                <a:spcPts val="2829"/>
              </a:lnSpc>
            </a:pPr>
            <a:r>
              <a:rPr lang="en-US" sz="1964">
                <a:solidFill>
                  <a:srgbClr val="243141"/>
                </a:solidFill>
                <a:latin typeface="Arial"/>
                <a:ea typeface="Arial"/>
                <a:cs typeface="Arial"/>
                <a:sym typeface="Arial"/>
              </a:rPr>
              <a:t>Matheus Britto -  </a:t>
            </a:r>
            <a:r>
              <a:rPr lang="en-US" sz="1964">
                <a:solidFill>
                  <a:srgbClr val="243141"/>
                </a:solidFill>
                <a:latin typeface="Arial"/>
                <a:ea typeface="Arial"/>
                <a:cs typeface="Arial"/>
                <a:sym typeface="Arial"/>
              </a:rPr>
              <a:t>Mikaella Teixeira -  Robson Durães -  Salatiel Muzi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9366" y="2849494"/>
            <a:ext cx="8878913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b="true" sz="4118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Segurança Digi</a:t>
            </a:r>
            <a:r>
              <a:rPr lang="en-US" b="true" sz="4118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tal: Conscientização, Práticas e Desafios na Era da Informação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61892" y="9622398"/>
            <a:ext cx="12456794" cy="59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1"/>
              </a:lnSpc>
            </a:pPr>
            <a:r>
              <a:rPr lang="en-US" b="true" sz="3725">
                <a:solidFill>
                  <a:srgbClr val="32445A"/>
                </a:solidFill>
                <a:latin typeface="Arial Bold"/>
                <a:ea typeface="Arial Bold"/>
                <a:cs typeface="Arial Bold"/>
                <a:sym typeface="Arial Bold"/>
              </a:rPr>
              <a:t>Disci</a:t>
            </a:r>
            <a:r>
              <a:rPr lang="en-US" b="true" sz="3725">
                <a:solidFill>
                  <a:srgbClr val="32445A"/>
                </a:solidFill>
                <a:latin typeface="Arial Bold"/>
                <a:ea typeface="Arial Bold"/>
                <a:cs typeface="Arial Bold"/>
                <a:sym typeface="Arial Bold"/>
              </a:rPr>
              <a:t>plina: Tema Integrador VII – Projeto de Pesquisa</a:t>
            </a:r>
          </a:p>
        </p:txBody>
      </p:sp>
      <p:sp>
        <p:nvSpPr>
          <p:cNvPr name="TextBox 16" id="16"/>
          <p:cNvSpPr txBox="true"/>
          <p:nvPr/>
        </p:nvSpPr>
        <p:spPr>
          <a:xfrm rot="5400000">
            <a:off x="14116451" y="5640858"/>
            <a:ext cx="6733608" cy="50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b="true" sz="3164">
                <a:solidFill>
                  <a:srgbClr val="32445A"/>
                </a:solidFill>
                <a:latin typeface="Arial Bold"/>
                <a:ea typeface="Arial Bold"/>
                <a:cs typeface="Arial Bold"/>
                <a:sym typeface="Arial Bold"/>
              </a:rPr>
              <a:t>Cu</a:t>
            </a:r>
            <a:r>
              <a:rPr lang="en-US" b="true" sz="3164">
                <a:solidFill>
                  <a:srgbClr val="32445A"/>
                </a:solidFill>
                <a:latin typeface="Arial Bold"/>
                <a:ea typeface="Arial Bold"/>
                <a:cs typeface="Arial Bold"/>
                <a:sym typeface="Arial Bold"/>
              </a:rPr>
              <a:t>rso: Ciência da Computação</a:t>
            </a:r>
          </a:p>
        </p:txBody>
      </p:sp>
      <p:sp>
        <p:nvSpPr>
          <p:cNvPr name="AutoShape 17" id="17"/>
          <p:cNvSpPr/>
          <p:nvPr/>
        </p:nvSpPr>
        <p:spPr>
          <a:xfrm rot="8171999">
            <a:off x="16106518" y="9264529"/>
            <a:ext cx="1868233" cy="0"/>
          </a:xfrm>
          <a:prstGeom prst="line">
            <a:avLst/>
          </a:prstGeom>
          <a:ln cap="rnd" w="47625">
            <a:solidFill>
              <a:srgbClr val="3345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72188" y="8402798"/>
            <a:ext cx="2667698" cy="2496349"/>
            <a:chOff x="0" y="0"/>
            <a:chExt cx="3923246" cy="3671252"/>
          </a:xfrm>
        </p:grpSpPr>
        <p:sp>
          <p:nvSpPr>
            <p:cNvPr name="Freeform 19" id="19" descr="Logotipo  Descrição gerada automaticamente"/>
            <p:cNvSpPr/>
            <p:nvPr/>
          </p:nvSpPr>
          <p:spPr>
            <a:xfrm flipH="false" flipV="false" rot="0">
              <a:off x="0" y="0"/>
              <a:ext cx="3923284" cy="3671316"/>
            </a:xfrm>
            <a:custGeom>
              <a:avLst/>
              <a:gdLst/>
              <a:ahLst/>
              <a:cxnLst/>
              <a:rect r="r" b="b" t="t" l="l"/>
              <a:pathLst>
                <a:path h="3671316" w="3923284">
                  <a:moveTo>
                    <a:pt x="0" y="0"/>
                  </a:moveTo>
                  <a:lnTo>
                    <a:pt x="3923284" y="0"/>
                  </a:lnTo>
                  <a:lnTo>
                    <a:pt x="3923284" y="3671316"/>
                  </a:lnTo>
                  <a:lnTo>
                    <a:pt x="0" y="3671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686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618687" y="714108"/>
            <a:ext cx="1542821" cy="1524495"/>
            <a:chOff x="0" y="0"/>
            <a:chExt cx="2057095" cy="20326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57146" cy="2032635"/>
            </a:xfrm>
            <a:custGeom>
              <a:avLst/>
              <a:gdLst/>
              <a:ahLst/>
              <a:cxnLst/>
              <a:rect r="r" b="b" t="t" l="l"/>
              <a:pathLst>
                <a:path h="2032635" w="2057146">
                  <a:moveTo>
                    <a:pt x="0" y="0"/>
                  </a:moveTo>
                  <a:lnTo>
                    <a:pt x="2057146" y="0"/>
                  </a:lnTo>
                  <a:lnTo>
                    <a:pt x="2057146" y="2032635"/>
                  </a:lnTo>
                  <a:lnTo>
                    <a:pt x="0" y="2032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8301" y="2079993"/>
            <a:ext cx="5045097" cy="5045097"/>
            <a:chOff x="0" y="0"/>
            <a:chExt cx="6726796" cy="67267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26809" cy="6726809"/>
            </a:xfrm>
            <a:custGeom>
              <a:avLst/>
              <a:gdLst/>
              <a:ahLst/>
              <a:cxnLst/>
              <a:rect r="r" b="b" t="t" l="l"/>
              <a:pathLst>
                <a:path h="6726809" w="6726809">
                  <a:moveTo>
                    <a:pt x="0" y="0"/>
                  </a:moveTo>
                  <a:lnTo>
                    <a:pt x="6726809" y="0"/>
                  </a:lnTo>
                  <a:lnTo>
                    <a:pt x="6726809" y="6726809"/>
                  </a:lnTo>
                  <a:lnTo>
                    <a:pt x="0" y="6726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236132" y="5068919"/>
            <a:ext cx="7650280" cy="1397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3"/>
              </a:lnSpc>
            </a:pPr>
          </a:p>
          <a:p>
            <a:pPr algn="ctr">
              <a:lnSpc>
                <a:spcPts val="3743"/>
              </a:lnSpc>
            </a:pPr>
            <a:r>
              <a:rPr lang="en-US" b="true" sz="2599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Análise</a:t>
            </a:r>
            <a:r>
              <a:rPr lang="en-US" b="true" sz="2599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 do comportamento dos usuários no ambiente digital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0238"/>
            <a:chOff x="0" y="0"/>
            <a:chExt cx="24384000" cy="13720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0318"/>
            </a:xfrm>
            <a:custGeom>
              <a:avLst/>
              <a:gdLst/>
              <a:ahLst/>
              <a:cxnLst/>
              <a:rect r="r" b="b" t="t" l="l"/>
              <a:pathLst>
                <a:path h="137203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9424" y="1202870"/>
            <a:ext cx="14942582" cy="1130949"/>
            <a:chOff x="0" y="0"/>
            <a:chExt cx="19923442" cy="15079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23438" cy="1507929"/>
            </a:xfrm>
            <a:custGeom>
              <a:avLst/>
              <a:gdLst/>
              <a:ahLst/>
              <a:cxnLst/>
              <a:rect r="r" b="b" t="t" l="l"/>
              <a:pathLst>
                <a:path h="1507929" w="19923438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44" r="0" b="-2074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50924" y="0"/>
            <a:ext cx="2437076" cy="10287000"/>
            <a:chOff x="0" y="0"/>
            <a:chExt cx="3249435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9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249422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817" r="-64750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145000" y="9534525"/>
            <a:ext cx="781812" cy="547688"/>
            <a:chOff x="0" y="0"/>
            <a:chExt cx="1042416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414" cy="730250"/>
            </a:xfrm>
            <a:custGeom>
              <a:avLst/>
              <a:gdLst/>
              <a:ahLst/>
              <a:cxnLst/>
              <a:rect r="r" b="b" t="t" l="l"/>
              <a:pathLst>
                <a:path h="730250" w="1042414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t="0" r="-39881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5400000">
            <a:off x="-4156296" y="6035740"/>
            <a:ext cx="896341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esquisa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0797" y="-19050"/>
            <a:ext cx="899057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gurança Digital</a:t>
            </a:r>
          </a:p>
        </p:txBody>
      </p:sp>
      <p:sp>
        <p:nvSpPr>
          <p:cNvPr name="AutoShape 14" id="14"/>
          <p:cNvSpPr/>
          <p:nvPr/>
        </p:nvSpPr>
        <p:spPr>
          <a:xfrm flipH="true">
            <a:off x="315887" y="180788"/>
            <a:ext cx="1383083" cy="1266962"/>
          </a:xfrm>
          <a:prstGeom prst="line">
            <a:avLst/>
          </a:prstGeom>
          <a:ln cap="rnd" w="19050">
            <a:solidFill>
              <a:srgbClr val="3345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-155534" y="8870823"/>
            <a:ext cx="1860937" cy="1860937"/>
            <a:chOff x="0" y="0"/>
            <a:chExt cx="2481250" cy="2481250"/>
          </a:xfrm>
        </p:grpSpPr>
        <p:sp>
          <p:nvSpPr>
            <p:cNvPr name="Freeform 16" id="16" descr="Logotipo  Descrição gerada automaticamente"/>
            <p:cNvSpPr/>
            <p:nvPr/>
          </p:nvSpPr>
          <p:spPr>
            <a:xfrm flipH="false" flipV="false" rot="0">
              <a:off x="0" y="0"/>
              <a:ext cx="2481199" cy="2481199"/>
            </a:xfrm>
            <a:custGeom>
              <a:avLst/>
              <a:gdLst/>
              <a:ahLst/>
              <a:cxnLst/>
              <a:rect r="r" b="b" t="t" l="l"/>
              <a:pathLst>
                <a:path h="2481199" w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74935" y="3012052"/>
            <a:ext cx="14777071" cy="467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7"/>
              </a:lnSpc>
            </a:pPr>
            <a:r>
              <a:rPr lang="en-US" sz="3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3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 tornou-se um dos principais desafios da sociedade contemporânea, impulsionada pelo crescimento acelerado do uso da internet e das tecnologias.</a:t>
            </a:r>
          </a:p>
          <a:p>
            <a:pPr algn="ctr">
              <a:lnSpc>
                <a:spcPts val="4607"/>
              </a:lnSpc>
            </a:pPr>
            <a:r>
              <a:rPr lang="en-US" sz="3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esse avanço, aumentaram significativamente os riscos, como golpes virtuais, vazamento de dados e fraudes eletrônicas.</a:t>
            </a:r>
          </a:p>
          <a:p>
            <a:pPr algn="ctr">
              <a:lnSpc>
                <a:spcPts val="4607"/>
              </a:lnSpc>
            </a:pPr>
            <a:r>
              <a:rPr lang="en-US" sz="3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Nesse contexto, torna-se essencial promover a conscientização e incentivar a adoção de práticas seguras no ambiente digital.</a:t>
            </a:r>
          </a:p>
          <a:p>
            <a:pPr algn="ctr">
              <a:lnSpc>
                <a:spcPts val="460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0238"/>
            <a:chOff x="0" y="0"/>
            <a:chExt cx="24384000" cy="13720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0318"/>
            </a:xfrm>
            <a:custGeom>
              <a:avLst/>
              <a:gdLst/>
              <a:ahLst/>
              <a:cxnLst/>
              <a:rect r="r" b="b" t="t" l="l"/>
              <a:pathLst>
                <a:path h="137203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2493" y="1592181"/>
            <a:ext cx="14942582" cy="1130949"/>
            <a:chOff x="0" y="0"/>
            <a:chExt cx="19923442" cy="15079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23438" cy="1507929"/>
            </a:xfrm>
            <a:custGeom>
              <a:avLst/>
              <a:gdLst/>
              <a:ahLst/>
              <a:cxnLst/>
              <a:rect r="r" b="b" t="t" l="l"/>
              <a:pathLst>
                <a:path h="1507929" w="19923438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44" r="0" b="-2074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 DO PROJETO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50924" y="0"/>
            <a:ext cx="2437076" cy="10287000"/>
            <a:chOff x="0" y="0"/>
            <a:chExt cx="3249435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9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249422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817" r="-64750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145000" y="9534525"/>
            <a:ext cx="781812" cy="547688"/>
            <a:chOff x="0" y="0"/>
            <a:chExt cx="1042416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414" cy="730250"/>
            </a:xfrm>
            <a:custGeom>
              <a:avLst/>
              <a:gdLst/>
              <a:ahLst/>
              <a:cxnLst/>
              <a:rect r="r" b="b" t="t" l="l"/>
              <a:pathLst>
                <a:path h="730250" w="1042414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t="0" r="-39881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esquisa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96834" y="130788"/>
            <a:ext cx="899057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gurança Digital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AutoShape 14" id="14"/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cap="rnd" w="19050">
            <a:solidFill>
              <a:srgbClr val="3345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-155534" y="8870823"/>
            <a:ext cx="1860937" cy="1860937"/>
            <a:chOff x="0" y="0"/>
            <a:chExt cx="2481250" cy="2481250"/>
          </a:xfrm>
        </p:grpSpPr>
        <p:sp>
          <p:nvSpPr>
            <p:cNvPr name="Freeform 16" id="16" descr="Logotipo  Descrição gerada automaticamente"/>
            <p:cNvSpPr/>
            <p:nvPr/>
          </p:nvSpPr>
          <p:spPr>
            <a:xfrm flipH="false" flipV="false" rot="0">
              <a:off x="0" y="0"/>
              <a:ext cx="2481199" cy="2481199"/>
            </a:xfrm>
            <a:custGeom>
              <a:avLst/>
              <a:gdLst/>
              <a:ahLst/>
              <a:cxnLst/>
              <a:rect r="r" b="b" t="t" l="l"/>
              <a:pathLst>
                <a:path h="2481199" w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92490" y="3152775"/>
            <a:ext cx="14058437" cy="610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36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Geral:</a:t>
            </a:r>
          </a:p>
          <a:p>
            <a:pPr algn="ctr">
              <a:lnSpc>
                <a:spcPts val="4402"/>
              </a:lnSpc>
            </a:pPr>
            <a:r>
              <a:rPr lang="en-US" sz="36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Analisar o nível de conhecimento, as práticas e as percepções dos usuários em relação à s</a:t>
            </a:r>
            <a:r>
              <a:rPr lang="en-US" sz="36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6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gurança digital.</a:t>
            </a:r>
          </a:p>
          <a:p>
            <a:pPr algn="ctr">
              <a:lnSpc>
                <a:spcPts val="4402"/>
              </a:lnSpc>
            </a:pPr>
          </a:p>
          <a:p>
            <a:pPr algn="ctr">
              <a:lnSpc>
                <a:spcPts val="4402"/>
              </a:lnSpc>
            </a:pPr>
            <a:r>
              <a:rPr lang="en-US" sz="36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 Específicos:</a:t>
            </a:r>
          </a:p>
          <a:p>
            <a:pPr algn="ctr" marL="792163" indent="-396082" lvl="1">
              <a:lnSpc>
                <a:spcPts val="4402"/>
              </a:lnSpc>
              <a:buFont typeface="Arial"/>
              <a:buChar char="•"/>
            </a:pPr>
            <a:r>
              <a:rPr lang="en-US" sz="36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 comportamentos de risco no ambiente digital</a:t>
            </a:r>
          </a:p>
          <a:p>
            <a:pPr algn="ctr" marL="792163" indent="-396082" lvl="1">
              <a:lnSpc>
                <a:spcPts val="4402"/>
              </a:lnSpc>
              <a:buFont typeface="Arial"/>
              <a:buChar char="•"/>
            </a:pPr>
            <a:r>
              <a:rPr lang="en-US" sz="36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Avaliar a adoção de práticas de proteção</a:t>
            </a:r>
          </a:p>
          <a:p>
            <a:pPr algn="ctr" marL="792163" indent="-396082" lvl="1">
              <a:lnSpc>
                <a:spcPts val="4402"/>
              </a:lnSpc>
              <a:buFont typeface="Arial"/>
              <a:buChar char="•"/>
            </a:pPr>
            <a:r>
              <a:rPr lang="en-US" sz="36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Compreender a percepção dos usuários sobre ameaças digitais</a:t>
            </a:r>
          </a:p>
          <a:p>
            <a:pPr algn="ctr" marL="792163" indent="-396082" lvl="1">
              <a:lnSpc>
                <a:spcPts val="4402"/>
              </a:lnSpc>
              <a:buFont typeface="Arial"/>
              <a:buChar char="•"/>
            </a:pPr>
            <a:r>
              <a:rPr lang="en-US" sz="36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Promover a conscientização por meio de ações educativas</a:t>
            </a:r>
          </a:p>
          <a:p>
            <a:pPr algn="just">
              <a:lnSpc>
                <a:spcPts val="4402"/>
              </a:lnSpc>
            </a:pPr>
          </a:p>
          <a:p>
            <a:pPr algn="ctr">
              <a:lnSpc>
                <a:spcPts val="440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0238"/>
            <a:chOff x="0" y="0"/>
            <a:chExt cx="24384000" cy="13720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0318"/>
            </a:xfrm>
            <a:custGeom>
              <a:avLst/>
              <a:gdLst/>
              <a:ahLst/>
              <a:cxnLst/>
              <a:rect r="r" b="b" t="t" l="l"/>
              <a:pathLst>
                <a:path h="137203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0418" y="1254029"/>
            <a:ext cx="14942582" cy="1130949"/>
            <a:chOff x="0" y="0"/>
            <a:chExt cx="19923442" cy="15079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23438" cy="1507929"/>
            </a:xfrm>
            <a:custGeom>
              <a:avLst/>
              <a:gdLst/>
              <a:ahLst/>
              <a:cxnLst/>
              <a:rect r="r" b="b" t="t" l="l"/>
              <a:pathLst>
                <a:path h="1507929" w="19923438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44" r="0" b="-2074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ATIVIDADES DESENVOLVIDAS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50924" y="0"/>
            <a:ext cx="2437076" cy="10287000"/>
            <a:chOff x="0" y="0"/>
            <a:chExt cx="3249435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9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249422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817" r="-64750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145000" y="9534525"/>
            <a:ext cx="781812" cy="547688"/>
            <a:chOff x="0" y="0"/>
            <a:chExt cx="1042416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414" cy="730250"/>
            </a:xfrm>
            <a:custGeom>
              <a:avLst/>
              <a:gdLst/>
              <a:ahLst/>
              <a:cxnLst/>
              <a:rect r="r" b="b" t="t" l="l"/>
              <a:pathLst>
                <a:path h="730250" w="1042414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t="0" r="-39881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esquisa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AutoShape 13" id="13"/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cap="rnd" w="19050">
            <a:solidFill>
              <a:srgbClr val="3345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-155534" y="8870823"/>
            <a:ext cx="1860937" cy="1860937"/>
            <a:chOff x="0" y="0"/>
            <a:chExt cx="2481250" cy="2481250"/>
          </a:xfrm>
        </p:grpSpPr>
        <p:sp>
          <p:nvSpPr>
            <p:cNvPr name="Freeform 15" id="15" descr="Logotipo  Descrição gerada automaticamente"/>
            <p:cNvSpPr/>
            <p:nvPr/>
          </p:nvSpPr>
          <p:spPr>
            <a:xfrm flipH="false" flipV="false" rot="0">
              <a:off x="0" y="0"/>
              <a:ext cx="2481199" cy="2481199"/>
            </a:xfrm>
            <a:custGeom>
              <a:avLst/>
              <a:gdLst/>
              <a:ahLst/>
              <a:cxnLst/>
              <a:rect r="r" b="b" t="t" l="l"/>
              <a:pathLst>
                <a:path h="2481199" w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96834" y="130788"/>
            <a:ext cx="899057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gurança Digital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796834" y="2924175"/>
            <a:ext cx="14201886" cy="661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0750" indent="-430375" lvl="1">
              <a:lnSpc>
                <a:spcPts val="4784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Criação do projeto Prote</a:t>
            </a:r>
            <a:r>
              <a:rPr lang="en-US" sz="3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gix</a:t>
            </a:r>
          </a:p>
          <a:p>
            <a:pPr algn="just" marL="860750" indent="-430375" lvl="1">
              <a:lnSpc>
                <a:spcPts val="4784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 do site/plataforma</a:t>
            </a:r>
          </a:p>
          <a:p>
            <a:pPr algn="just" marL="860750" indent="-430375" lvl="1">
              <a:lnSpc>
                <a:spcPts val="4784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Elaboração de questionário online</a:t>
            </a:r>
          </a:p>
          <a:p>
            <a:pPr algn="just" marL="860750" indent="-430375" lvl="1">
              <a:lnSpc>
                <a:spcPts val="4784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Coleta de dados com participantes</a:t>
            </a:r>
          </a:p>
          <a:p>
            <a:pPr algn="just" marL="860750" indent="-430375" lvl="1">
              <a:lnSpc>
                <a:spcPts val="4784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Divulgação nas redes sociais</a:t>
            </a:r>
          </a:p>
          <a:p>
            <a:pPr algn="just" marL="860750" indent="-430375" lvl="1">
              <a:lnSpc>
                <a:spcPts val="4784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Análise dos dados coletados</a:t>
            </a:r>
          </a:p>
          <a:p>
            <a:pPr algn="just" marL="860750" indent="-430375" lvl="1">
              <a:lnSpc>
                <a:spcPts val="4784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Criação de gráficos e resultados</a:t>
            </a:r>
          </a:p>
          <a:p>
            <a:pPr algn="just" marL="860750" indent="-430375" lvl="1">
              <a:lnSpc>
                <a:spcPts val="4784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Produção do artigo científico</a:t>
            </a:r>
          </a:p>
          <a:p>
            <a:pPr algn="just" marL="860750" indent="-430375" lvl="1">
              <a:lnSpc>
                <a:spcPts val="4784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 de materiais educativos</a:t>
            </a:r>
          </a:p>
          <a:p>
            <a:pPr algn="just">
              <a:lnSpc>
                <a:spcPts val="4784"/>
              </a:lnSpc>
            </a:pPr>
          </a:p>
          <a:p>
            <a:pPr algn="just">
              <a:lnSpc>
                <a:spcPts val="478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0238"/>
            <a:chOff x="0" y="0"/>
            <a:chExt cx="24384000" cy="13720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0318"/>
            </a:xfrm>
            <a:custGeom>
              <a:avLst/>
              <a:gdLst/>
              <a:ahLst/>
              <a:cxnLst/>
              <a:rect r="r" b="b" t="t" l="l"/>
              <a:pathLst>
                <a:path h="137203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3901" y="2518015"/>
            <a:ext cx="4146219" cy="3278079"/>
            <a:chOff x="0" y="0"/>
            <a:chExt cx="5528292" cy="4370771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6665" t="14201" r="22689" b="14614"/>
            <a:stretch>
              <a:fillRect/>
            </a:stretch>
          </p:blipFill>
          <p:spPr>
            <a:xfrm flipH="false" flipV="false">
              <a:off x="0" y="0"/>
              <a:ext cx="5528292" cy="4370771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609429" y="923830"/>
            <a:ext cx="14942582" cy="1130949"/>
            <a:chOff x="0" y="0"/>
            <a:chExt cx="19923442" cy="15079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23438" cy="1507929"/>
            </a:xfrm>
            <a:custGeom>
              <a:avLst/>
              <a:gdLst/>
              <a:ahLst/>
              <a:cxnLst/>
              <a:rect r="r" b="b" t="t" l="l"/>
              <a:pathLst>
                <a:path h="1507929" w="19923438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7444" r="0" b="-20744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ATIVIDADES DESENVOLVIDAS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50924" y="0"/>
            <a:ext cx="2437076" cy="10287000"/>
            <a:chOff x="0" y="0"/>
            <a:chExt cx="3249435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9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249422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2817" r="-647509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145000" y="9534525"/>
            <a:ext cx="781812" cy="547688"/>
            <a:chOff x="0" y="0"/>
            <a:chExt cx="1042416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2414" cy="730250"/>
            </a:xfrm>
            <a:custGeom>
              <a:avLst/>
              <a:gdLst/>
              <a:ahLst/>
              <a:cxnLst/>
              <a:rect r="r" b="b" t="t" l="l"/>
              <a:pathLst>
                <a:path h="730250" w="1042414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81" t="0" r="-39881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esquisa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AutoShape 15" id="15"/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cap="rnd" w="19050">
            <a:solidFill>
              <a:srgbClr val="3345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-155534" y="8870823"/>
            <a:ext cx="1860937" cy="1860937"/>
            <a:chOff x="0" y="0"/>
            <a:chExt cx="2481250" cy="2481250"/>
          </a:xfrm>
        </p:grpSpPr>
        <p:sp>
          <p:nvSpPr>
            <p:cNvPr name="Freeform 17" id="17" descr="Logotipo  Descrição gerada automaticamente"/>
            <p:cNvSpPr/>
            <p:nvPr/>
          </p:nvSpPr>
          <p:spPr>
            <a:xfrm flipH="false" flipV="false" rot="0">
              <a:off x="0" y="0"/>
              <a:ext cx="2481199" cy="2481199"/>
            </a:xfrm>
            <a:custGeom>
              <a:avLst/>
              <a:gdLst/>
              <a:ahLst/>
              <a:cxnLst/>
              <a:rect r="r" b="b" t="t" l="l"/>
              <a:pathLst>
                <a:path h="2481199" w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148599" y="2518015"/>
            <a:ext cx="4146219" cy="3278079"/>
            <a:chOff x="0" y="0"/>
            <a:chExt cx="5528292" cy="4370771"/>
          </a:xfrm>
        </p:grpSpPr>
        <p:pic>
          <p:nvPicPr>
            <p:cNvPr name="Picture 19" id="19"/>
            <p:cNvPicPr>
              <a:picLocks noChangeAspect="true"/>
            </p:cNvPicPr>
            <p:nvPr/>
          </p:nvPicPr>
          <p:blipFill>
            <a:blip r:embed="rId7"/>
            <a:srcRect l="2500" t="32588" r="3775" b="33232"/>
            <a:stretch>
              <a:fillRect/>
            </a:stretch>
          </p:blipFill>
          <p:spPr>
            <a:xfrm flipH="false" flipV="false">
              <a:off x="0" y="0"/>
              <a:ext cx="5528292" cy="4370771"/>
            </a:xfrm>
            <a:prstGeom prst="rect">
              <a:avLst/>
            </a:prstGeom>
          </p:spPr>
        </p:pic>
      </p:grpSp>
      <p:grpSp>
        <p:nvGrpSpPr>
          <p:cNvPr name="Group 20" id="20"/>
          <p:cNvGrpSpPr/>
          <p:nvPr/>
        </p:nvGrpSpPr>
        <p:grpSpPr>
          <a:xfrm rot="0">
            <a:off x="10865102" y="2518015"/>
            <a:ext cx="4415538" cy="3278079"/>
            <a:chOff x="0" y="0"/>
            <a:chExt cx="5887384" cy="4370771"/>
          </a:xfrm>
        </p:grpSpPr>
        <p:pic>
          <p:nvPicPr>
            <p:cNvPr name="Picture 21" id="21"/>
            <p:cNvPicPr>
              <a:picLocks noChangeAspect="true"/>
            </p:cNvPicPr>
            <p:nvPr/>
          </p:nvPicPr>
          <p:blipFill>
            <a:blip r:embed="rId8"/>
            <a:srcRect l="0" t="32878" r="0" b="32878"/>
            <a:stretch>
              <a:fillRect/>
            </a:stretch>
          </p:blipFill>
          <p:spPr>
            <a:xfrm flipH="false" flipV="false">
              <a:off x="0" y="0"/>
              <a:ext cx="5887384" cy="4370771"/>
            </a:xfrm>
            <a:prstGeom prst="rect">
              <a:avLst/>
            </a:prstGeom>
          </p:spPr>
        </p:pic>
      </p:grpSp>
      <p:grpSp>
        <p:nvGrpSpPr>
          <p:cNvPr name="Group 22" id="22"/>
          <p:cNvGrpSpPr/>
          <p:nvPr/>
        </p:nvGrpSpPr>
        <p:grpSpPr>
          <a:xfrm rot="0">
            <a:off x="1663901" y="6301211"/>
            <a:ext cx="4146219" cy="3278079"/>
            <a:chOff x="0" y="0"/>
            <a:chExt cx="5528292" cy="4370771"/>
          </a:xfrm>
        </p:grpSpPr>
        <p:pic>
          <p:nvPicPr>
            <p:cNvPr name="Picture 23" id="23"/>
            <p:cNvPicPr>
              <a:picLocks noChangeAspect="true"/>
            </p:cNvPicPr>
            <p:nvPr/>
          </p:nvPicPr>
          <p:blipFill>
            <a:blip r:embed="rId9"/>
            <a:srcRect l="0" t="26380" r="0" b="26380"/>
            <a:stretch>
              <a:fillRect/>
            </a:stretch>
          </p:blipFill>
          <p:spPr>
            <a:xfrm flipH="false" flipV="false">
              <a:off x="0" y="0"/>
              <a:ext cx="5528292" cy="4370771"/>
            </a:xfrm>
            <a:prstGeom prst="rect">
              <a:avLst/>
            </a:prstGeom>
          </p:spPr>
        </p:pic>
      </p:grpSp>
      <p:grpSp>
        <p:nvGrpSpPr>
          <p:cNvPr name="Group 24" id="24"/>
          <p:cNvGrpSpPr/>
          <p:nvPr/>
        </p:nvGrpSpPr>
        <p:grpSpPr>
          <a:xfrm rot="0">
            <a:off x="6292120" y="6301211"/>
            <a:ext cx="4146219" cy="3278079"/>
            <a:chOff x="0" y="0"/>
            <a:chExt cx="5528292" cy="4370771"/>
          </a:xfrm>
        </p:grpSpPr>
        <p:pic>
          <p:nvPicPr>
            <p:cNvPr name="Picture 25" id="25"/>
            <p:cNvPicPr>
              <a:picLocks noChangeAspect="true"/>
            </p:cNvPicPr>
            <p:nvPr/>
          </p:nvPicPr>
          <p:blipFill>
            <a:blip r:embed="rId10"/>
            <a:srcRect l="0" t="20445" r="0" b="43087"/>
            <a:stretch>
              <a:fillRect/>
            </a:stretch>
          </p:blipFill>
          <p:spPr>
            <a:xfrm flipH="false" flipV="false">
              <a:off x="0" y="0"/>
              <a:ext cx="5528292" cy="4370771"/>
            </a:xfrm>
            <a:prstGeom prst="rect">
              <a:avLst/>
            </a:prstGeom>
          </p:spPr>
        </p:pic>
      </p:grpSp>
      <p:grpSp>
        <p:nvGrpSpPr>
          <p:cNvPr name="Group 26" id="26"/>
          <p:cNvGrpSpPr/>
          <p:nvPr/>
        </p:nvGrpSpPr>
        <p:grpSpPr>
          <a:xfrm rot="0">
            <a:off x="10924113" y="6262819"/>
            <a:ext cx="4415538" cy="3278079"/>
            <a:chOff x="0" y="0"/>
            <a:chExt cx="5887384" cy="4370771"/>
          </a:xfrm>
        </p:grpSpPr>
        <p:pic>
          <p:nvPicPr>
            <p:cNvPr name="Picture 27" id="27"/>
            <p:cNvPicPr>
              <a:picLocks noChangeAspect="true"/>
            </p:cNvPicPr>
            <p:nvPr/>
          </p:nvPicPr>
          <p:blipFill>
            <a:blip r:embed="rId11"/>
            <a:srcRect l="0" t="48565" r="0" b="9674"/>
            <a:stretch>
              <a:fillRect/>
            </a:stretch>
          </p:blipFill>
          <p:spPr>
            <a:xfrm flipH="false" flipV="false">
              <a:off x="0" y="0"/>
              <a:ext cx="5887384" cy="4370771"/>
            </a:xfrm>
            <a:prstGeom prst="rect">
              <a:avLst/>
            </a:prstGeom>
          </p:spPr>
        </p:pic>
      </p:grpSp>
      <p:sp>
        <p:nvSpPr>
          <p:cNvPr name="TextBox 28" id="28"/>
          <p:cNvSpPr txBox="true"/>
          <p:nvPr/>
        </p:nvSpPr>
        <p:spPr>
          <a:xfrm rot="0">
            <a:off x="1796834" y="130788"/>
            <a:ext cx="899057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gurança Digital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0238"/>
            <a:chOff x="0" y="0"/>
            <a:chExt cx="24384000" cy="13720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0318"/>
            </a:xfrm>
            <a:custGeom>
              <a:avLst/>
              <a:gdLst/>
              <a:ahLst/>
              <a:cxnLst/>
              <a:rect r="r" b="b" t="t" l="l"/>
              <a:pathLst>
                <a:path h="137203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0818" y="1051272"/>
            <a:ext cx="14942582" cy="1130949"/>
            <a:chOff x="0" y="0"/>
            <a:chExt cx="19923442" cy="15079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23438" cy="1507929"/>
            </a:xfrm>
            <a:custGeom>
              <a:avLst/>
              <a:gdLst/>
              <a:ahLst/>
              <a:cxnLst/>
              <a:rect r="r" b="b" t="t" l="l"/>
              <a:pathLst>
                <a:path h="1507929" w="19923438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44" r="0" b="-2074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50924" y="0"/>
            <a:ext cx="2437076" cy="10287000"/>
            <a:chOff x="0" y="0"/>
            <a:chExt cx="3249435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9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249422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817" r="-64750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145000" y="9534525"/>
            <a:ext cx="781812" cy="547688"/>
            <a:chOff x="0" y="0"/>
            <a:chExt cx="1042416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414" cy="730250"/>
            </a:xfrm>
            <a:custGeom>
              <a:avLst/>
              <a:gdLst/>
              <a:ahLst/>
              <a:cxnLst/>
              <a:rect r="r" b="b" t="t" l="l"/>
              <a:pathLst>
                <a:path h="730250" w="1042414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t="0" r="-39881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esquisa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96834" y="130788"/>
            <a:ext cx="899057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gurança Digital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AutoShape 14" id="14"/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cap="rnd" w="19050">
            <a:solidFill>
              <a:srgbClr val="3345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-155534" y="8870823"/>
            <a:ext cx="1860937" cy="1860937"/>
            <a:chOff x="0" y="0"/>
            <a:chExt cx="2481250" cy="2481250"/>
          </a:xfrm>
        </p:grpSpPr>
        <p:sp>
          <p:nvSpPr>
            <p:cNvPr name="Freeform 16" id="16" descr="Logotipo  Descrição gerada automaticamente"/>
            <p:cNvSpPr/>
            <p:nvPr/>
          </p:nvSpPr>
          <p:spPr>
            <a:xfrm flipH="false" flipV="false" rot="0">
              <a:off x="0" y="0"/>
              <a:ext cx="2481199" cy="2481199"/>
            </a:xfrm>
            <a:custGeom>
              <a:avLst/>
              <a:gdLst/>
              <a:ahLst/>
              <a:cxnLst/>
              <a:rect r="r" b="b" t="t" l="l"/>
              <a:pathLst>
                <a:path h="2481199" w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28452" y="2862476"/>
            <a:ext cx="14023559" cy="517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3"/>
              </a:lnSpc>
            </a:pPr>
            <a:r>
              <a:rPr lang="en-US" sz="37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resultados demonstram que, embora muitos usuários possuam conhecimento básico sobre se</a:t>
            </a:r>
            <a:r>
              <a:rPr lang="en-US" sz="37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gurança digital, esse conhecimento não é aplicado de forma consistente no dia a dia.</a:t>
            </a:r>
          </a:p>
          <a:p>
            <a:pPr algn="ctr">
              <a:lnSpc>
                <a:spcPts val="4513"/>
              </a:lnSpc>
            </a:pPr>
            <a:r>
              <a:rPr lang="en-US" sz="37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Observa-se, portanto, uma lacuna significativa entre o conhecimento teórico e as práticas adotadas.</a:t>
            </a:r>
          </a:p>
          <a:p>
            <a:pPr algn="ctr">
              <a:lnSpc>
                <a:spcPts val="4513"/>
              </a:lnSpc>
            </a:pPr>
            <a:r>
              <a:rPr lang="en-US" sz="37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Conclui-se que a segurança digital depende não apenas de ferramentas tecnológicas, mas principalmente da conscientização e educação dos usuários</a:t>
            </a:r>
          </a:p>
          <a:p>
            <a:pPr algn="ctr">
              <a:lnSpc>
                <a:spcPts val="451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0238"/>
            <a:chOff x="0" y="0"/>
            <a:chExt cx="24384000" cy="13720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0318"/>
            </a:xfrm>
            <a:custGeom>
              <a:avLst/>
              <a:gdLst/>
              <a:ahLst/>
              <a:cxnLst/>
              <a:rect r="r" b="b" t="t" l="l"/>
              <a:pathLst>
                <a:path h="137203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0279" y="6301211"/>
            <a:ext cx="4587442" cy="3429295"/>
            <a:chOff x="0" y="0"/>
            <a:chExt cx="6116590" cy="45723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16602" cy="4572381"/>
            </a:xfrm>
            <a:custGeom>
              <a:avLst/>
              <a:gdLst/>
              <a:ahLst/>
              <a:cxnLst/>
              <a:rect r="r" b="b" t="t" l="l"/>
              <a:pathLst>
                <a:path h="4572381" w="6116602">
                  <a:moveTo>
                    <a:pt x="0" y="0"/>
                  </a:moveTo>
                  <a:lnTo>
                    <a:pt x="6116602" y="0"/>
                  </a:lnTo>
                  <a:lnTo>
                    <a:pt x="6116602" y="4572381"/>
                  </a:lnTo>
                  <a:lnTo>
                    <a:pt x="0" y="457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6046" r="0" b="-14397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05404" y="6301211"/>
            <a:ext cx="4653810" cy="3429295"/>
            <a:chOff x="0" y="0"/>
            <a:chExt cx="6205080" cy="45723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05093" cy="4572381"/>
            </a:xfrm>
            <a:custGeom>
              <a:avLst/>
              <a:gdLst/>
              <a:ahLst/>
              <a:cxnLst/>
              <a:rect r="r" b="b" t="t" l="l"/>
              <a:pathLst>
                <a:path h="4572381" w="6205093">
                  <a:moveTo>
                    <a:pt x="0" y="0"/>
                  </a:moveTo>
                  <a:lnTo>
                    <a:pt x="6205093" y="0"/>
                  </a:lnTo>
                  <a:lnTo>
                    <a:pt x="6205093" y="4572381"/>
                  </a:lnTo>
                  <a:lnTo>
                    <a:pt x="0" y="457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629" r="0" b="-1525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38703" y="2139267"/>
            <a:ext cx="4653810" cy="3429295"/>
            <a:chOff x="0" y="0"/>
            <a:chExt cx="6205080" cy="45723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05093" cy="4572381"/>
            </a:xfrm>
            <a:custGeom>
              <a:avLst/>
              <a:gdLst/>
              <a:ahLst/>
              <a:cxnLst/>
              <a:rect r="r" b="b" t="t" l="l"/>
              <a:pathLst>
                <a:path h="4572381" w="6205093">
                  <a:moveTo>
                    <a:pt x="0" y="0"/>
                  </a:moveTo>
                  <a:lnTo>
                    <a:pt x="6205093" y="0"/>
                  </a:lnTo>
                  <a:lnTo>
                    <a:pt x="6205093" y="4572381"/>
                  </a:lnTo>
                  <a:lnTo>
                    <a:pt x="0" y="457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221" t="-20697" r="-51962" b="-387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788" y="2138848"/>
            <a:ext cx="4653810" cy="3429295"/>
            <a:chOff x="0" y="0"/>
            <a:chExt cx="6205080" cy="45723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05093" cy="4572381"/>
            </a:xfrm>
            <a:custGeom>
              <a:avLst/>
              <a:gdLst/>
              <a:ahLst/>
              <a:cxnLst/>
              <a:rect r="r" b="b" t="t" l="l"/>
              <a:pathLst>
                <a:path h="4572381" w="6205093">
                  <a:moveTo>
                    <a:pt x="0" y="0"/>
                  </a:moveTo>
                  <a:lnTo>
                    <a:pt x="6205093" y="0"/>
                  </a:lnTo>
                  <a:lnTo>
                    <a:pt x="6205093" y="4572381"/>
                  </a:lnTo>
                  <a:lnTo>
                    <a:pt x="0" y="457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3071" t="-21843" r="-45277" b="-2193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6472" y="2138848"/>
            <a:ext cx="4653810" cy="3429295"/>
            <a:chOff x="0" y="0"/>
            <a:chExt cx="6205080" cy="45723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05093" cy="4572381"/>
            </a:xfrm>
            <a:custGeom>
              <a:avLst/>
              <a:gdLst/>
              <a:ahLst/>
              <a:cxnLst/>
              <a:rect r="r" b="b" t="t" l="l"/>
              <a:pathLst>
                <a:path h="4572381" w="6205093">
                  <a:moveTo>
                    <a:pt x="0" y="0"/>
                  </a:moveTo>
                  <a:lnTo>
                    <a:pt x="6205093" y="0"/>
                  </a:lnTo>
                  <a:lnTo>
                    <a:pt x="6205093" y="4572381"/>
                  </a:lnTo>
                  <a:lnTo>
                    <a:pt x="0" y="457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8808" t="-64865" r="-6987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8156" y="922115"/>
            <a:ext cx="14942696" cy="993803"/>
            <a:chOff x="0" y="0"/>
            <a:chExt cx="19923595" cy="13250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23599" cy="1325073"/>
            </a:xfrm>
            <a:custGeom>
              <a:avLst/>
              <a:gdLst/>
              <a:ahLst/>
              <a:cxnLst/>
              <a:rect r="r" b="b" t="t" l="l"/>
              <a:pathLst>
                <a:path h="1325073" w="19923599">
                  <a:moveTo>
                    <a:pt x="0" y="0"/>
                  </a:moveTo>
                  <a:lnTo>
                    <a:pt x="19923599" y="0"/>
                  </a:lnTo>
                  <a:lnTo>
                    <a:pt x="19923599" y="1325073"/>
                  </a:lnTo>
                  <a:lnTo>
                    <a:pt x="0" y="132507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52425" r="0" b="-23352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38100"/>
              <a:ext cx="19923595" cy="12869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184"/>
                </a:lnSpc>
              </a:pPr>
              <a:r>
                <a:rPr lang="en-US" b="true" sz="480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EVIDÊNCIAS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850924" y="0"/>
            <a:ext cx="2437076" cy="10287000"/>
            <a:chOff x="0" y="0"/>
            <a:chExt cx="3249435" cy="1371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49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249422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2817" r="-647509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esquisa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AutoShape 20" id="20"/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cap="rnd" w="19050">
            <a:solidFill>
              <a:srgbClr val="3345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-155534" y="8870823"/>
            <a:ext cx="1860937" cy="1860937"/>
            <a:chOff x="0" y="0"/>
            <a:chExt cx="2481250" cy="2481250"/>
          </a:xfrm>
        </p:grpSpPr>
        <p:sp>
          <p:nvSpPr>
            <p:cNvPr name="Freeform 22" id="22" descr="Logotipo  Descrição gerada automaticamente"/>
            <p:cNvSpPr/>
            <p:nvPr/>
          </p:nvSpPr>
          <p:spPr>
            <a:xfrm flipH="false" flipV="false" rot="0">
              <a:off x="0" y="0"/>
              <a:ext cx="2481199" cy="2481199"/>
            </a:xfrm>
            <a:custGeom>
              <a:avLst/>
              <a:gdLst/>
              <a:ahLst/>
              <a:cxnLst/>
              <a:rect r="r" b="b" t="t" l="l"/>
              <a:pathLst>
                <a:path h="2481199" w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2" b="-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781180" y="6301211"/>
            <a:ext cx="4587442" cy="3429295"/>
            <a:chOff x="0" y="0"/>
            <a:chExt cx="6116590" cy="45723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16602" cy="4572381"/>
            </a:xfrm>
            <a:custGeom>
              <a:avLst/>
              <a:gdLst/>
              <a:ahLst/>
              <a:cxnLst/>
              <a:rect r="r" b="b" t="t" l="l"/>
              <a:pathLst>
                <a:path h="4572381" w="6116602">
                  <a:moveTo>
                    <a:pt x="0" y="0"/>
                  </a:moveTo>
                  <a:lnTo>
                    <a:pt x="6116602" y="0"/>
                  </a:lnTo>
                  <a:lnTo>
                    <a:pt x="6116602" y="4572381"/>
                  </a:lnTo>
                  <a:lnTo>
                    <a:pt x="0" y="457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3403" r="0" b="-166618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796834" y="130788"/>
            <a:ext cx="899057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gurança Digital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DAHH-EhW5PI</dc:identifier>
  <dcterms:modified xsi:type="dcterms:W3CDTF">2011-08-01T06:04:30Z</dcterms:modified>
  <cp:revision>1</cp:revision>
  <dc:title>Modelo apresentação GPA NEAD.pptx</dc:title>
</cp:coreProperties>
</file>